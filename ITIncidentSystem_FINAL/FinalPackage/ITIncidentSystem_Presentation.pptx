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Инциденти по категория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Инциденти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D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6B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AF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Hardware</c:v>
                  </c:pt>
                  <c:pt idx="1">
                    <c:v>Software</c:v>
                  </c:pt>
                  <c:pt idx="2">
                    <c:v>Network</c:v>
                  </c:pt>
                  <c:pt idx="3">
                    <c:v>Peripheral</c:v>
                  </c:pt>
                  <c:pt idx="4">
                    <c:v>Security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9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2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Статус на инцидентите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Статус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bubble3D val="0"/>
            <c:spPr>
              <a:solidFill>
                <a:srgbClr val="FFC10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Resolved</c:v>
                </c:pt>
                <c:pt idx="1">
                  <c:v>InProgress</c:v>
                </c:pt>
                <c:pt idx="2">
                  <c:v>Open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</c:v>
                </c:pt>
                <c:pt idx="1">
                  <c:v>4</c:v>
                </c:pt>
                <c:pt idx="2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EEF2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Инциденти по приоритет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Брой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10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98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9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2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243280">
              <a:alpha val="60000"/>
            </a:srgbClr>
          </a:solidFill>
          <a:ln w="12700">
            <a:solidFill>
              <a:srgbClr val="243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548640"/>
            <a:ext cx="3657600" cy="3657600"/>
          </a:xfrm>
          <a:prstGeom prst="ellipse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INCIDENT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Система за управление на ИТ инциденти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Задание 4  •  </a:t>
            </a:r>
            <a:pPr indent="0" marL="0">
              <a:buNone/>
            </a:pPr>
            <a:r>
              <a:rPr lang="en-US" sz="13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ООП на C#  •  11 клас  •  .NET 8.0  •  MySQL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 </a:t>
            </a:r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 </a:t>
            </a:r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</a:t>
            </a:r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Септември — Октомври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ПРОБЛЕМ И ЦЕЛ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Какъв проблем решаваме?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Всяка организация се сблъсква ежедневно с технически проблеми — без система те се губят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2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840480" cy="320040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384048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БЕЗ СИСТЕМА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75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Инцидентите се губят или забравят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578608"/>
            <a:ext cx="228600" cy="2286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511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Няма история — кой какво е правил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228600" cy="2286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266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Никаква статистика за ефективност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529584"/>
            <a:ext cx="228600" cy="2286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02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Мениджърите нямат преглед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005072"/>
            <a:ext cx="228600" cy="2286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77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нарушения без предупреждение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54480"/>
            <a:ext cx="40233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554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С НАШАТА СИСТЕМА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2103120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075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Централизиран регистър на инцидентите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578608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551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Пълна одиторска следа (History)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054096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026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LINQ статистика и справки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529584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502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Аларми при критични инциденти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4005072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Файлови отчети (CSV, TXT, JSON)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51960" y="3108960"/>
            <a:ext cx="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ФУНКЦИОНАЛНОСТ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прави системата?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3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15087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операции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Регистриране, редактиране, назначаване и решаване на инциденти с пълна история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51760" cy="15087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Събития и аларми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2677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C# events: Created, Assigned, Resolved, CriticalDetected — минимум 2 слушателя всяко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51760" cy="15087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статистика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2677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заявки: GroupBy, OrderBy, Where, Average, Take — топ категории, SLA нарушения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2651760" cy="15087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291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3675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Файлова дейност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593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Лог файлове, CSV/TXT/JSON експорт, зареждане на seed данни от JSON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200400"/>
            <a:ext cx="2651760" cy="15087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3291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37560" y="3675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база данни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9593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таблици, VIEW-та, транзакции, параметризирани заявки — 30+ тестови записа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200400"/>
            <a:ext cx="2651760" cy="15087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291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0" y="3675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Изключения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9593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custom Exception класа в йерархия — валидация, DB, файлове, бизнес правила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АРХИТЕКТУРА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Класова структура — 17 класа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Разделение на отговорностите: всеки клас има единствена, ясна роля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4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60604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606040" cy="32004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МОДЕЛИ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Technician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IncidentHistory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508760"/>
            <a:ext cx="2606040" cy="15087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508760"/>
            <a:ext cx="2606040" cy="32004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508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СОБЫТИЯ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89280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IncidentEventArgs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CriticalAlertEventArgs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508760"/>
            <a:ext cx="2606040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508760"/>
            <a:ext cx="2606040" cy="32004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508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ДЕЛЕГАТИ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89280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IncidentFilter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IncidentReportFormatter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IncidentValidator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 още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2606040" cy="15087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00400"/>
            <a:ext cx="2606040" cy="320040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УСЛУГИ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58444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IncidentManager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FileLogger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3200400"/>
            <a:ext cx="2606040" cy="15087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200400"/>
            <a:ext cx="2606040" cy="320040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ИЗКЛЮЧЕНИЯ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358444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InvalidIncidentEx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FileLogEx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 още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3200400"/>
            <a:ext cx="2606040" cy="150876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3200400"/>
            <a:ext cx="2606040" cy="320040"/>
          </a:xfrm>
          <a:prstGeom prst="rect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ВАЛИДАЦИЯ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3584448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InputValidator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МОДЕЛИ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 класове модели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POCO класове — само данни, навигационни свойства и ToString()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4023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Incident  — централен модел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IncidentNumber  → "INC-00001"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IncidentCategory 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IncidentPriority  Priority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IncidentStatus    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UserId  |  int? TechnicianId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  CreatedAt  |  AssignedAt?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DateTime? ResolvedAt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double?  ResolutionTimeMinutes  // изчисл.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List&lt;IncidentHistory&gt;  History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63040"/>
            <a:ext cx="1371600" cy="8229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630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Id, FullName, Email  |  IncidentCategory Specialization  |  bool IsAvailable  |  int ActiveCases  |  UpdateAvailability()  // при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377440"/>
            <a:ext cx="1371600" cy="8229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3774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Id, FullName, Email  |  string Phone  |  int DepartmentId  |  int ActiveIncidentCount // изчисл.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91840"/>
            <a:ext cx="1371600" cy="8229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2918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337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Id, Name  |  string ManagerName  |  int EmployeeCount  |  List&lt;User&gt; Users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420624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4206240"/>
            <a:ext cx="1371600" cy="822960"/>
          </a:xfrm>
          <a:prstGeom prst="rect">
            <a:avLst/>
          </a:prstGeom>
          <a:solidFill>
            <a:srgbClr val="EEF2F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206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IncidentHistory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251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Id, IncidentId  |  string ChangedBy  |  Status? OldStatus  |  Status  NewStatus  |  DateTime ChangedAt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ДЕЛЕГАТИ И СЪБИТИЯ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събития · 5 делегата · 2+ слушателя за всяко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6 / 16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Събитие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Аргументи (EventArgs)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Слушатели (2+)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IncidentEventArgs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(Id, Title, Priority, User, Dept)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NotificationService.OnCreated()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FileLogger.OnCreated()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IncidentAssigned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IncidentEventArgs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(+ OldStatus, TechName)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NotificationService.OnAssigned()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FileLogger.OnAssigned()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IncidentEventArgs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(+ ResolutionMinutes)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NotificationService.OnResolved()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FileLogger.OnResolved()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CriticalIncidentDetected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CriticalAlertEventArgs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(inherits: + AlertLevel, AffectedSystems, Deadline)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NotificationService.OnCritical() ← АЛАРМА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FileLogger.OnCritical() ← critical.log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Делегати:  IncidentFilter  •  IncidentReportFormatter  •  IncidentValidator(out)  •  CriticalAlertHandler  •  IncidentEventHandler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CHAIN — CreateIncident(Critical)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едно извикване задейства 4 реакции едновременно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7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325880"/>
            <a:ext cx="411480" cy="41148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197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45389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manager.CreateIncident("Подозрителни опити", Critical, Security)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10312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2286000"/>
            <a:ext cx="411480" cy="41148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2157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InputValidator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1832" y="241401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ValidateIncident() → ако грешка → InvalidIncidentException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06324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3246120"/>
            <a:ext cx="411480" cy="4114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832" y="3118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IncidentManager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" y="337413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_incidents.Add()  |  History.Add(Open)  |  OnIncidentCreated(args)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402336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420624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" y="4078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" y="433425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OnIncidentCreated() → зелено съобщение в конзолата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82312" y="114300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73752" y="132588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1197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FileLogger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76672" y="145389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OnIncidentCreated() → [CREATED] ред в incident.log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82312" y="210312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73752" y="2286000"/>
            <a:ext cx="411480" cy="4114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76672" y="2157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IncidentManager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241401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Priority == Critical → OnCriticalDetected(critArgs)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82312" y="306324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73752" y="3246120"/>
            <a:ext cx="411480" cy="4114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76672" y="3118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76672" y="337413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OnCriticalDetected() → ╔═══ КРИТИЧЕН ИНЦИДЕНТ ═══╗ АЛАРМА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82312" y="4023360"/>
            <a:ext cx="3977640" cy="822960"/>
          </a:xfrm>
          <a:prstGeom prst="rect">
            <a:avLst/>
          </a:prstGeom>
          <a:solidFill>
            <a:srgbClr val="1C2D6A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73752" y="4206240"/>
            <a:ext cx="411480" cy="4114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6b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76672" y="4078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FileLogger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76672" y="433425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OnCriticalDetected() → incident.log + critical.log (двойно)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3192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▼ и ▼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74904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едновременно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LINQ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LINQ заявки в StatisticsService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· OrderBy · GroupBy · Take · Select · Average · Count · Any · FirstOrDefault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8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251960" cy="3429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3977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Топ 3 категории с процент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.GroupBy(i =&gt; i.Category)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.OrderByDescending(g=&gt;g.Count())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.Take(3)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.Select(g =&gt;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g.Key, g.Count(),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g.Count()*100.0/total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)).ToList();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SLA нарушения &gt; 2 дни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.Where(i =&gt; i.IsActive &amp;&amp;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(DateTime.Now-i.CreatedAt)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.TotalDays &gt;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.OrderBy(i =&gt; i.CreatedAt)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.ToList();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41732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75488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в StatisticsService: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4114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FilterByStatus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FilterByCategory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FilterByTechnician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GetCriticalIncidents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GetSlaBreaches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GroupByMonth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SearchByText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GetTechnicianStats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GenerateSummary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ФАЙЛОВЕ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типа файлове · Thread-safe · JSON сериализация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9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26060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455A6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63040"/>
            <a:ext cx="2606040" cy="38404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📄  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incident.log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1762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Всяко събитие: [CREATED] [ASSIGNED] [RESOLVED] [CRITICAL] с timestamp. Thread-safe с lock{}.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1463040"/>
            <a:ext cx="26060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463040"/>
            <a:ext cx="26060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🚨  LOG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73552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critical.log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73552" y="21762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Само Critical инциденти: === рамка ===, Alert Level, AffectedSystems, ResponseDeadline.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16752" y="1463040"/>
            <a:ext cx="26060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16752" y="1463040"/>
            <a:ext cx="260604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CSV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08192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incidents_week3.csv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08192" y="21762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Заглавен ред + ред за всеки инцидент. Ескейпирани запетаи в заглавието с "".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46120"/>
            <a:ext cx="26060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246120"/>
            <a:ext cx="2606040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246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 TXT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3685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critical_report.txt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" y="395935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Форматиран отчет: само Critical инциденти. Четим от хора — за мениджъри.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82112" y="3246120"/>
            <a:ext cx="26060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3246120"/>
            <a:ext cx="260604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3246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JSON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73552" y="3685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backup_incidents.json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73552" y="395935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Пълен backup: exportedAt, count, 30 записа. JsonStringEnumConverter → enum като string.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16752" y="3246120"/>
            <a:ext cx="26060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16752" y="3246120"/>
            <a:ext cx="2606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246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JSON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08192" y="3685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statistics.json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08192" y="395935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Обобщена статистика: Total, Resolved, Critical, AvgMin, TopCategory — за интеграция.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БАЗА ДАННИ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5 таблици · Транзакции · VIEW-та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Всяка операция, засягаща 2+ таблици, се изпълнява в транзакция с Rollback при грешка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10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931920" cy="3429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departments (6)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 department_id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manager_name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employee_count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has many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▼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(10)           technicians (5)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FK→departments       specialization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1                  is_available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submits            active_cases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 *                  │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 (30) ◄────────┘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FK→users, technicians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FK→departments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1 CASCADE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incident_history (17+)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old_status → new_status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changed_by, notes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463040"/>
            <a:ext cx="4297680" cy="502920"/>
          </a:xfrm>
          <a:prstGeom prst="rect">
            <a:avLst/>
          </a:prstGeom>
          <a:solidFill>
            <a:srgbClr val="EEF2FF"/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463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типове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1554480"/>
            <a:ext cx="0" cy="320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63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category/priority/status директно в MySQL — валидация на DB ниво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029968"/>
            <a:ext cx="4297680" cy="502920"/>
          </a:xfrm>
          <a:prstGeom prst="rect">
            <a:avLst/>
          </a:prstGeom>
          <a:solidFill>
            <a:srgbClr val="EEF2FF"/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2029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FK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2121408"/>
            <a:ext cx="0" cy="320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technician_id DEFAULT NULL — инцидент може да чака назначаване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596896"/>
            <a:ext cx="4297680" cy="502920"/>
          </a:xfrm>
          <a:prstGeom prst="rect">
            <a:avLst/>
          </a:prstGeom>
          <a:solidFill>
            <a:srgbClr val="EEF2FF"/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259689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08192" y="2688336"/>
            <a:ext cx="0" cy="320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5968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InsertIncident: 2 таблици • Assign: 3 таблици • Resolve: 3 таблици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3163824"/>
            <a:ext cx="4297680" cy="502920"/>
          </a:xfrm>
          <a:prstGeom prst="rect">
            <a:avLst/>
          </a:prstGeom>
          <a:solidFill>
            <a:srgbClr val="EEF2FF"/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638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оптимизация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08192" y="3255264"/>
            <a:ext cx="0" cy="320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638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idx_status, idx_priority, idx_category, idx_tech — ускоряват LINQ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3730752"/>
            <a:ext cx="4297680" cy="502920"/>
          </a:xfrm>
          <a:prstGeom prst="rect">
            <a:avLst/>
          </a:prstGeom>
          <a:solidFill>
            <a:srgbClr val="EEF2FF"/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7307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VIEW-та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08192" y="3822192"/>
            <a:ext cx="0" cy="320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730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v_incidents_full (JOIN ×4) • v_technician_stats (AVG, COUNT)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4297680"/>
            <a:ext cx="4297680" cy="502920"/>
          </a:xfrm>
          <a:prstGeom prst="rect">
            <a:avLst/>
          </a:prstGeom>
          <a:solidFill>
            <a:srgbClr val="EEF2FF"/>
          </a:solidFill>
          <a:ln w="762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4297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Параметризирани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08192" y="4389120"/>
            <a:ext cx="0" cy="320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@param синтаксис навсякъде — защита от SQL Injection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ИЗКЛЮЧЕНИЯ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изключения · Йерархия · 7 сценария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11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417320"/>
            <a:ext cx="2834640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Exception  (.NET)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0" cy="347472"/>
          </a:xfrm>
          <a:prstGeom prst="line">
            <a:avLst/>
          </a:prstGeom>
          <a:noFill/>
          <a:ln w="19050">
            <a:solidFill>
              <a:srgbClr val="8090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221992"/>
            <a:ext cx="3566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2221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IncidentSystemException  (наше)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697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OccurredAt { get; } = DateTime.Now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41832" y="2926080"/>
            <a:ext cx="0" cy="320040"/>
          </a:xfrm>
          <a:prstGeom prst="line">
            <a:avLst/>
          </a:prstGeom>
          <a:noFill/>
          <a:ln w="12700">
            <a:solidFill>
              <a:srgbClr val="8090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246120"/>
            <a:ext cx="1389888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2461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Invalid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IncidentEx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7490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FieldName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06624" y="2926080"/>
            <a:ext cx="0" cy="320040"/>
          </a:xfrm>
          <a:prstGeom prst="line">
            <a:avLst/>
          </a:prstGeom>
          <a:noFill/>
          <a:ln w="12700">
            <a:solidFill>
              <a:srgbClr val="8090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39112" y="3246120"/>
            <a:ext cx="138988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39112" y="32461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Exception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39112" y="37490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71416" y="2926080"/>
            <a:ext cx="0" cy="320040"/>
          </a:xfrm>
          <a:prstGeom prst="line">
            <a:avLst/>
          </a:prstGeom>
          <a:noFill/>
          <a:ln w="12700">
            <a:solidFill>
              <a:srgbClr val="8090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3904" y="3246120"/>
            <a:ext cx="1389888" cy="7772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03904" y="32461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FileLog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Exception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03904" y="37490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FilePath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6208" y="2926080"/>
            <a:ext cx="0" cy="320040"/>
          </a:xfrm>
          <a:prstGeom prst="line">
            <a:avLst/>
          </a:prstGeom>
          <a:noFill/>
          <a:ln w="12700">
            <a:solidFill>
              <a:srgbClr val="8090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68696" y="3246120"/>
            <a:ext cx="138988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68696" y="32461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Technician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Unavailable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68696" y="37490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TechnicianId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01000" y="2926080"/>
            <a:ext cx="0" cy="320040"/>
          </a:xfrm>
          <a:prstGeom prst="line">
            <a:avLst/>
          </a:prstGeom>
          <a:noFill/>
          <a:ln w="12700">
            <a:solidFill>
              <a:srgbClr val="8090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3246120"/>
            <a:ext cx="1389888" cy="7772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33488" y="324612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Incident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NotFound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33488" y="374904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187952"/>
            <a:ext cx="84582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(InvalidIncidentException ex) { /* невалидни данни */ }  catch (DatabaseException ex) { /* DB грешка */ }  catch (IncidentSystemException ex) { /* всяко наше изключение */ 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СТАТИСТИКА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тестови записа — реален анализ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12 / 16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7160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206240" y="137160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3708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27432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Общо инциденти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377440" y="43708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237744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Процент решени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80560" y="43708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13" name="Text 9"/>
          <p:cNvSpPr/>
          <p:nvPr/>
        </p:nvSpPr>
        <p:spPr>
          <a:xfrm>
            <a:off x="448056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Критични случая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83680" y="43708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~2ч</a:t>
            </a:r>
            <a:endParaRPr lang="en-US" sz="5200" dirty="0"/>
          </a:p>
        </p:txBody>
      </p:sp>
      <p:sp>
        <p:nvSpPr>
          <p:cNvPr id="15" name="Text 11"/>
          <p:cNvSpPr/>
          <p:nvPr/>
        </p:nvSpPr>
        <p:spPr>
          <a:xfrm>
            <a:off x="658368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Средно решаване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ДЕМОНСТРАЦИЯ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Шест стъпки — от зареждане на данни до обработка на грешки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13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697480" cy="1691640"/>
          </a:xfrm>
          <a:prstGeom prst="rect">
            <a:avLst/>
          </a:prstGeom>
          <a:solidFill>
            <a:srgbClr val="1C2D6A"/>
          </a:solidFill>
          <a:ln w="1905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4752" y="1234440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8105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зареждане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11226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LoadIncidentsFromJson(seed_data.json)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30 инцидента в паметта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97480" cy="1691640"/>
          </a:xfrm>
          <a:prstGeom prst="rect">
            <a:avLst/>
          </a:prstGeom>
          <a:solidFill>
            <a:srgbClr val="1C2D6A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234440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18105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справки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11226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GetTopCategories() | FilterByStatus()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GetSlaBreaches() | GroupByMonth()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1143000"/>
            <a:ext cx="2697480" cy="1691640"/>
          </a:xfrm>
          <a:prstGeom prst="rect">
            <a:avLst/>
          </a:prstGeom>
          <a:solidFill>
            <a:srgbClr val="1C2D6A"/>
          </a:solidFill>
          <a:ln w="1905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42048" y="1234440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18105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Обобщена статистика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211226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GenerateSummary() | GetTechnicianStats()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PrintSummary(report)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017520"/>
            <a:ext cx="2697480" cy="1691640"/>
          </a:xfrm>
          <a:prstGeom prst="rect">
            <a:avLst/>
          </a:prstGeom>
          <a:solidFill>
            <a:srgbClr val="1C2D6A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44752" y="31089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" y="36850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CRUD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8678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TestConnection() | GetAllIncidents()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InsertIncident() + транзакция + история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97480" cy="1691640"/>
          </a:xfrm>
          <a:prstGeom prst="rect">
            <a:avLst/>
          </a:prstGeom>
          <a:solidFill>
            <a:srgbClr val="1C2D6A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108960"/>
            <a:ext cx="502920" cy="50292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37560" y="36850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 експорт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98678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ExportToCsv() | ExportToTxt()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ExportToJson() | statistics.json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3017520"/>
            <a:ext cx="2697480" cy="1691640"/>
          </a:xfrm>
          <a:prstGeom prst="rect">
            <a:avLst/>
          </a:prstGeom>
          <a:solidFill>
            <a:srgbClr val="1C2D6A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42048" y="3108960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36208" y="36850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демо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398678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FileLogException | InvalidIncidentEx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TechnicianUnavailable | DatabaseException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ТРУДНОСТИ И РЕШЕНИЯ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Предизвикателства по пътя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14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274320" cy="5303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8132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179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 на CREATE TABLE при FK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618488"/>
            <a:ext cx="2743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51790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departments и technicians трябва да се създадат ПРЕДИ users и incidents — FK зависимости диктуват реда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75688"/>
            <a:ext cx="274320" cy="5303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07568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1122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полета в DataReader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18688" y="2212848"/>
            <a:ext cx="2743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211226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MySqlDataReader.IsDBNull(GetOrdinal("col")) преди всяко четене на nullable колона — иначе NullReferenceException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67004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70048"/>
            <a:ext cx="274320" cy="5303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7004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27066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 с 3 таблици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2807208"/>
            <a:ext cx="2743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11880" y="270662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conn.BeginTransaction() → всичко в try → Commit() при успех, Rollback() при всяка грешка; partial update е по-лошо от rollback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6440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64408"/>
            <a:ext cx="274320" cy="5303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26440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3300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лог файл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18688" y="3401568"/>
            <a:ext cx="2743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330098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readonly object _lock = new(); → lock(_lock){ File.AppendAllText(...) } — при многонишково изпълнение без lock файлът се разваля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85876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858768"/>
            <a:ext cx="274320" cy="5303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85876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⚠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3895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Select с tuple тип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18688" y="3995928"/>
            <a:ext cx="2743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11880" y="389534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Explicit return type в lambda: .Select(g =&gt; (g.Key, g.Count(), percent)) — компилаторът не може да прецени типа без помощ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45312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453128"/>
            <a:ext cx="274320" cy="5303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45312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⚠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" y="44897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CriticalAlertEventArgs наследяване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18688" y="4590288"/>
            <a:ext cx="2743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11880" y="448970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Конструкторът извиква base(...) с правилните аргументи за базовия IncidentEventArgs — не всички полета са нови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AI И ЛИЧЕН ПРИНОС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е използван AI · Личен принос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15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3383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11480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🤖  AI АСИСТЕНТ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            Прието → Редактирано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схема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DDL структура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✎ ENUM типове, CHECK, индекси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ORM подход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8620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с транзакции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862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Шаблон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✎ 3-таблична транзакция, mapper-и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Dapper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4838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GroupBy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4838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Базова заявка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✎ Take(n) + tuple + проценти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LINQ to SQL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105656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EventArgs клас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41056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Структура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✎ init accessor, ToLogLine()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Generic версия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4069080" cy="3383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463040"/>
            <a:ext cx="4069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4630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⭐  ЛИЧЕН ПРИНОС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93852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95681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реалистични инцидента — събрани от реален ИТ опит в организация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36829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3865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CriticalAlertEventArgs с P1-SECURITY специален alert при Security категория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79806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8163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нарушения — сравнение с DateTime.Now за намиране на просрочени инциденти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22783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246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Thread-safe лог с lock{} — открит при тест с многонишков достъп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6576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6758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UpdateAvailability() в Technician — правилото за 3 активни случая е наше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408736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41056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6-стъпковата демонстрация с fallback режим при липсващ MySQL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46320" y="451713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03520" y="45354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Дневникът — попълван след всяка сесия с AI инструмент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4572000" cy="4572000"/>
          </a:xfrm>
          <a:prstGeom prst="ellipse">
            <a:avLst/>
          </a:prstGeom>
          <a:solidFill>
            <a:srgbClr val="243280">
              <a:alpha val="50000"/>
            </a:srgbClr>
          </a:solidFill>
          <a:ln w="12700">
            <a:solidFill>
              <a:srgbClr val="243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ПРОЕКТЪТ Е ЗАВЪРШЕН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Incident Management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331720" cy="1051560"/>
          </a:xfrm>
          <a:prstGeom prst="rect">
            <a:avLst/>
          </a:prstGeom>
          <a:solidFill>
            <a:srgbClr val="1C2D6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C# класа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Модели, услуги, аргументи, делегати, изключения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331720" cy="1051560"/>
          </a:xfrm>
          <a:prstGeom prst="rect">
            <a:avLst/>
          </a:prstGeom>
          <a:solidFill>
            <a:srgbClr val="1C2D6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събития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IncidentCreated, Assigned, Resolved, CriticalDetected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331720" cy="1051560"/>
          </a:xfrm>
          <a:prstGeom prst="rect">
            <a:avLst/>
          </a:prstGeom>
          <a:solidFill>
            <a:srgbClr val="1C2D6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LINQ метода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Filter, Group, Sort, Search, Stats — StatisticsService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2331720" cy="1051560"/>
          </a:xfrm>
          <a:prstGeom prst="rect">
            <a:avLst/>
          </a:prstGeom>
          <a:solidFill>
            <a:srgbClr val="1C2D6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MySQL таблици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seed записа, VIEW-та, транзакции, индекси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200400"/>
            <a:ext cx="2331720" cy="1051560"/>
          </a:xfrm>
          <a:prstGeom prst="rect">
            <a:avLst/>
          </a:prstGeom>
          <a:solidFill>
            <a:srgbClr val="1C2D6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файлови формата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66160" y="3703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.log, .csv, .txt, .json — запис и четене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200400"/>
            <a:ext cx="2331720" cy="1051560"/>
          </a:xfrm>
          <a:prstGeom prst="rect">
            <a:avLst/>
          </a:prstGeom>
          <a:solidFill>
            <a:srgbClr val="1C2D6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изключения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3703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Йерархия с IncidentSystemException в основата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ООП на C#  •  11 клас  •  .NET 8.0  •  MySQL  •  Септември — Октомври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0"/>
                </a:solidFill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Incident Management System — Финална Презентация</dc:title>
  <dc:subject>PptxGenJS Presentation</dc:subject>
  <dc:creator>IT Incident Management Team</dc:creator>
  <cp:lastModifiedBy>IT Incident Management Team</cp:lastModifiedBy>
  <cp:revision>1</cp:revision>
  <dcterms:created xsi:type="dcterms:W3CDTF">2026-05-05T02:36:02Z</dcterms:created>
  <dcterms:modified xsi:type="dcterms:W3CDTF">2026-05-05T02:36:02Z</dcterms:modified>
</cp:coreProperties>
</file>